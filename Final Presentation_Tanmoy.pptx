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16"/>
  </p:notesMasterIdLst>
  <p:sldIdLst>
    <p:sldId id="256" r:id="rId2"/>
    <p:sldId id="257" r:id="rId3"/>
    <p:sldId id="261" r:id="rId4"/>
    <p:sldId id="263" r:id="rId5"/>
    <p:sldId id="258" r:id="rId6"/>
    <p:sldId id="264" r:id="rId7"/>
    <p:sldId id="265" r:id="rId8"/>
    <p:sldId id="268" r:id="rId9"/>
    <p:sldId id="267" r:id="rId10"/>
    <p:sldId id="269" r:id="rId11"/>
    <p:sldId id="270" r:id="rId12"/>
    <p:sldId id="271" r:id="rId13"/>
    <p:sldId id="272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17C"/>
    <a:srgbClr val="FD7F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4"/>
    <p:restoredTop sz="51187"/>
  </p:normalViewPr>
  <p:slideViewPr>
    <p:cSldViewPr snapToGrid="0">
      <p:cViewPr varScale="1">
        <p:scale>
          <a:sx n="56" d="100"/>
          <a:sy n="56" d="100"/>
        </p:scale>
        <p:origin x="29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5CF7EE-BEC1-9D47-9C27-E43A44B6AF56}" type="datetimeFigureOut">
              <a:rPr lang="en-US" smtClean="0"/>
              <a:t>5/1/25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12558-B290-CB47-9DC5-29A4378A5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22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12558-B290-CB47-9DC5-29A4378A54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736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analysis will be  performed using a dataset sourced from </a:t>
            </a:r>
            <a:r>
              <a:rPr lang="en-US" dirty="0" err="1"/>
              <a:t>kaggle.com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Title of the Dataset is “</a:t>
            </a:r>
            <a:r>
              <a:rPr lang="en-US" b="1" i="0" dirty="0"/>
              <a:t>Lung Cancer Dataset”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dataset contains survey responses related to </a:t>
            </a:r>
            <a:r>
              <a:rPr lang="en-US" b="1" dirty="0"/>
              <a:t>lung cancer symptoms and lifestyle habits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The key variables indicate if the person surveyed is diagnosed with lung cancer, age of the individual, some lifestyle factors, symptom indicators and additional behavior markers.</a:t>
            </a:r>
            <a:endParaRPr lang="en-US" b="1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12558-B290-CB47-9DC5-29A4378A54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740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data structure shows that it has 309 observations, and 16 variables.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Lifestyle factors,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Symptom indicators and additional behavioral marks are in integers where the number 2 means “Yes” and 1 means “No”.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FD528-EA20-A347-B153-85A3F2CF5A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05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4C772-C590-07A7-577D-952E1D39F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988F8-1838-FD23-3A2A-4B52B7806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FBE059-A639-E76F-F097-6A672FD2D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Replaced all instances of </a:t>
            </a:r>
            <a:r>
              <a:rPr lang="en-US" b="1" dirty="0"/>
              <a:t>“1” with “NO” and “2” with “YES”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3C68C-622A-54F0-93CF-12C705C2BA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FD528-EA20-A347-B153-85A3F2CF5A3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69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FD528-EA20-A347-B153-85A3F2CF5A3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1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Calculated the overall probability of lung cancer in the dataset.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result showed that about </a:t>
            </a:r>
            <a:r>
              <a:rPr lang="en-US" b="1" dirty="0"/>
              <a:t>87% of respondents were diagnosed with lung cancer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12558-B290-CB47-9DC5-29A4378A54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64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Explored how lung cancer probability varies by age.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Divided the population into four age groups: under 50, 50 to 60, 61 to 70, and 71 and above.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12558-B290-CB47-9DC5-29A4378A54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0426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bar chart visually shows the </a:t>
            </a:r>
            <a:r>
              <a:rPr lang="en-US" b="1" dirty="0"/>
              <a:t>probability of lung cancer across different age groups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does not add up to 100% because I am Calculating the probability of lung cancer within each age group — not the percentage of lung cancer cases distributed among age groups.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12558-B290-CB47-9DC5-29A4378A547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7009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a follow-up, I wanted to understand how lung cancer cases are distributed across age groups. This highlights the importance of targeting older adults for screening and awareness efforts.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12558-B290-CB47-9DC5-29A4378A547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295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result was that </a:t>
            </a:r>
            <a:r>
              <a:rPr lang="en-US" b="1" dirty="0"/>
              <a:t>about 57.4%</a:t>
            </a:r>
            <a:r>
              <a:rPr lang="en-US" dirty="0"/>
              <a:t> of lung cancer patients in the dataset were smokers — reinforcing the strong link between smoking and lung cancer.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12558-B290-CB47-9DC5-29A4378A54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71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Randomly selected 30 patients with lung cancer and found that their </a:t>
            </a:r>
            <a:r>
              <a:rPr lang="en-US" b="1" dirty="0"/>
              <a:t>average age was approximately 63.6 years</a:t>
            </a:r>
            <a:r>
              <a:rPr lang="en-US" dirty="0"/>
              <a:t> — which aligns well with the age group analysis we saw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12558-B290-CB47-9DC5-29A4378A547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2195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Created a correlation matrix to explore how the variables relate to each other and to lung cancer.</a:t>
            </a:r>
          </a:p>
          <a:p>
            <a:r>
              <a:rPr lang="en-US" dirty="0"/>
              <a:t>The matrix also helped check for multicollinearity, and since most correlations were moderate, I was confident moving forward with the regression model.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12558-B290-CB47-9DC5-29A4378A547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5015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28167-B18A-1700-BA85-746F3283B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4D5CD-0D44-DF07-75F4-4BC5A6BC9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541842-BE17-9B65-1D94-4B7C3515C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All variables included in the model were found to be statistically significant predictors of lung cancer (p &lt; 0.05), indicating strong associations between each factor and the likelihood of developing the disease.</a:t>
            </a:r>
          </a:p>
          <a:p>
            <a:r>
              <a:rPr lang="en-US" dirty="0"/>
              <a:t># Fatigue, yellow fingers, alcohol consumption, and chronic disease showed particularly strong effects, suggesting they are critical indicators to monitor for early detection.</a:t>
            </a:r>
          </a:p>
          <a:p>
            <a:r>
              <a:rPr lang="en-US" dirty="0"/>
              <a:t># Coughing, wheezing, and smoking also contributed significantly, aligning with known clinical symptoms and behavioral risks.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C7AB4-BA56-2105-19D2-048312DFC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12558-B290-CB47-9DC5-29A4378A54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909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12558-B290-CB47-9DC5-29A4378A547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65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992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482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2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991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364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487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83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909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43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885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08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270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FD8E5E-0301-DF76-F413-72D5CE971D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455"/>
          <a:stretch/>
        </p:blipFill>
        <p:spPr>
          <a:xfrm>
            <a:off x="0" y="0"/>
            <a:ext cx="12192000" cy="68718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D2FEEC-7727-EB3F-EE99-674987615D11}"/>
              </a:ext>
            </a:extLst>
          </p:cNvPr>
          <p:cNvSpPr txBox="1"/>
          <p:nvPr/>
        </p:nvSpPr>
        <p:spPr>
          <a:xfrm>
            <a:off x="692727" y="3796973"/>
            <a:ext cx="540327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Risk Modeling of Lung Cancer Likelihood Based on Lifestyle and Health Factors </a:t>
            </a:r>
            <a:endParaRPr lang="en-US" sz="32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b="1" dirty="0">
              <a:solidFill>
                <a:srgbClr val="FFFFFF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TANMOY SAHA TURJA</a:t>
            </a:r>
            <a:endParaRPr lang="en-US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547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A06049D-2BB0-11B8-51E6-FC40709B4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99536"/>
            <a:ext cx="11155680" cy="5871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b="1" kern="12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About Dataset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6685353-7AB4-9A74-7BE6-144D8FEBD7CD}"/>
              </a:ext>
            </a:extLst>
          </p:cNvPr>
          <p:cNvGrpSpPr/>
          <p:nvPr/>
        </p:nvGrpSpPr>
        <p:grpSpPr>
          <a:xfrm>
            <a:off x="758483" y="1616274"/>
            <a:ext cx="8282486" cy="836393"/>
            <a:chOff x="758483" y="1616274"/>
            <a:chExt cx="8282486" cy="836393"/>
          </a:xfrm>
        </p:grpSpPr>
        <p:sp>
          <p:nvSpPr>
            <p:cNvPr id="7" name="Rectangle 6" descr="Marker">
              <a:extLst>
                <a:ext uri="{FF2B5EF4-FFF2-40B4-BE49-F238E27FC236}">
                  <a16:creationId xmlns:a16="http://schemas.microsoft.com/office/drawing/2014/main" id="{F0BC16C5-B222-59A9-855D-CDD5F98E9C48}"/>
                </a:ext>
              </a:extLst>
            </p:cNvPr>
            <p:cNvSpPr/>
            <p:nvPr/>
          </p:nvSpPr>
          <p:spPr>
            <a:xfrm>
              <a:off x="758483" y="1616274"/>
              <a:ext cx="835576" cy="836393"/>
            </a:xfrm>
            <a:prstGeom prst="rect">
              <a:avLst/>
            </a:prstGeom>
            <a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71A8597-18F8-50A7-0A92-B724D0F757BB}"/>
                </a:ext>
              </a:extLst>
            </p:cNvPr>
            <p:cNvSpPr txBox="1"/>
            <p:nvPr/>
          </p:nvSpPr>
          <p:spPr>
            <a:xfrm>
              <a:off x="1594059" y="1711305"/>
              <a:ext cx="74469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The dataset was sourced from </a:t>
              </a:r>
              <a:r>
                <a:rPr lang="en-US" i="1" dirty="0">
                  <a:latin typeface="Calibri" panose="020F0502020204030204" pitchFamily="34" charset="0"/>
                  <a:cs typeface="Calibri" panose="020F0502020204030204" pitchFamily="34" charset="0"/>
                </a:rPr>
                <a:t>https://</a:t>
              </a:r>
              <a:r>
                <a:rPr lang="en-US" i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www.kaggle.com</a:t>
              </a:r>
              <a:r>
                <a:rPr lang="en-US" i="1" dirty="0">
                  <a:latin typeface="Calibri" panose="020F0502020204030204" pitchFamily="34" charset="0"/>
                  <a:cs typeface="Calibri" panose="020F0502020204030204" pitchFamily="34" charset="0"/>
                </a:rPr>
                <a:t>/datasets/akashnath29/lung-cancer-dataset </a:t>
              </a:r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2A71B91-B5E9-CA90-FE55-629BD9D78385}"/>
              </a:ext>
            </a:extLst>
          </p:cNvPr>
          <p:cNvGrpSpPr/>
          <p:nvPr/>
        </p:nvGrpSpPr>
        <p:grpSpPr>
          <a:xfrm>
            <a:off x="758483" y="2687717"/>
            <a:ext cx="6502280" cy="836393"/>
            <a:chOff x="758483" y="3010803"/>
            <a:chExt cx="6502280" cy="836393"/>
          </a:xfrm>
        </p:grpSpPr>
        <p:sp>
          <p:nvSpPr>
            <p:cNvPr id="8" name="Rectangle 7" descr="Lungs">
              <a:extLst>
                <a:ext uri="{FF2B5EF4-FFF2-40B4-BE49-F238E27FC236}">
                  <a16:creationId xmlns:a16="http://schemas.microsoft.com/office/drawing/2014/main" id="{7BE9BEF1-E385-D8C5-19CF-9839830E5A5E}"/>
                </a:ext>
              </a:extLst>
            </p:cNvPr>
            <p:cNvSpPr/>
            <p:nvPr/>
          </p:nvSpPr>
          <p:spPr>
            <a:xfrm>
              <a:off x="758483" y="3010803"/>
              <a:ext cx="835576" cy="836393"/>
            </a:xfrm>
            <a:prstGeom prst="rect">
              <a:avLst/>
            </a:pr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C61BE6-5D67-81C8-4052-383DC2B53616}"/>
                </a:ext>
              </a:extLst>
            </p:cNvPr>
            <p:cNvSpPr txBox="1"/>
            <p:nvPr/>
          </p:nvSpPr>
          <p:spPr>
            <a:xfrm>
              <a:off x="1594059" y="3244333"/>
              <a:ext cx="56667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The Title of the Dataset is “</a:t>
              </a:r>
              <a:r>
                <a:rPr lang="en-US" b="1" i="0" dirty="0">
                  <a:latin typeface="Calibri" panose="020F0502020204030204" pitchFamily="34" charset="0"/>
                  <a:cs typeface="Calibri" panose="020F0502020204030204" pitchFamily="34" charset="0"/>
                </a:rPr>
                <a:t>Lung Cancer Dataset”</a:t>
              </a:r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467EF50-ABD7-13E9-CD48-5C647FA8030E}"/>
              </a:ext>
            </a:extLst>
          </p:cNvPr>
          <p:cNvGrpSpPr/>
          <p:nvPr/>
        </p:nvGrpSpPr>
        <p:grpSpPr>
          <a:xfrm>
            <a:off x="744232" y="3759160"/>
            <a:ext cx="11323271" cy="836393"/>
            <a:chOff x="744232" y="3603474"/>
            <a:chExt cx="11323271" cy="836393"/>
          </a:xfrm>
        </p:grpSpPr>
        <p:sp>
          <p:nvSpPr>
            <p:cNvPr id="9" name="Rectangle 8" descr="Doctor">
              <a:extLst>
                <a:ext uri="{FF2B5EF4-FFF2-40B4-BE49-F238E27FC236}">
                  <a16:creationId xmlns:a16="http://schemas.microsoft.com/office/drawing/2014/main" id="{FBE82386-4BC9-1B72-9F66-76E8F4728B62}"/>
                </a:ext>
              </a:extLst>
            </p:cNvPr>
            <p:cNvSpPr/>
            <p:nvPr/>
          </p:nvSpPr>
          <p:spPr>
            <a:xfrm>
              <a:off x="744232" y="3603474"/>
              <a:ext cx="835576" cy="836393"/>
            </a:xfrm>
            <a:prstGeom prst="rect">
              <a:avLst/>
            </a:prstGeom>
            <a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A341057-D364-8035-0055-8D53B9997438}"/>
                </a:ext>
              </a:extLst>
            </p:cNvPr>
            <p:cNvSpPr txBox="1"/>
            <p:nvPr/>
          </p:nvSpPr>
          <p:spPr>
            <a:xfrm>
              <a:off x="1594058" y="3837004"/>
              <a:ext cx="104734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00000"/>
                </a:lnSpc>
                <a:defRPr b="1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The dataset contains survey responses related to lung cancer symptoms and lifestyle habits.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41FD903-D650-3403-023C-1D85C1C4AF0F}"/>
              </a:ext>
            </a:extLst>
          </p:cNvPr>
          <p:cNvGrpSpPr/>
          <p:nvPr/>
        </p:nvGrpSpPr>
        <p:grpSpPr>
          <a:xfrm>
            <a:off x="735647" y="4830604"/>
            <a:ext cx="11317606" cy="1477328"/>
            <a:chOff x="735647" y="4830604"/>
            <a:chExt cx="11317606" cy="1477328"/>
          </a:xfrm>
        </p:grpSpPr>
        <p:sp>
          <p:nvSpPr>
            <p:cNvPr id="10" name="Rectangle 9" descr="Statistics">
              <a:extLst>
                <a:ext uri="{FF2B5EF4-FFF2-40B4-BE49-F238E27FC236}">
                  <a16:creationId xmlns:a16="http://schemas.microsoft.com/office/drawing/2014/main" id="{F02BCA02-44A2-6A1A-DB1E-DCA883BF6BDA}"/>
                </a:ext>
              </a:extLst>
            </p:cNvPr>
            <p:cNvSpPr/>
            <p:nvPr/>
          </p:nvSpPr>
          <p:spPr>
            <a:xfrm>
              <a:off x="735647" y="5151072"/>
              <a:ext cx="835576" cy="836393"/>
            </a:xfrm>
            <a:prstGeom prst="rect">
              <a:avLst/>
            </a:prstGeom>
            <a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D5D42F3-6DAA-53D4-F575-6BE6BE95B7BD}"/>
                </a:ext>
              </a:extLst>
            </p:cNvPr>
            <p:cNvSpPr txBox="1"/>
            <p:nvPr/>
          </p:nvSpPr>
          <p:spPr>
            <a:xfrm>
              <a:off x="1579808" y="4830604"/>
              <a:ext cx="10473445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00000"/>
                </a:lnSpc>
                <a:defRPr b="1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Key Variables: LUNG_CANCER: </a:t>
              </a:r>
              <a:r>
                <a:rPr lang="en-US" dirty="0">
                  <a:solidFill>
                    <a:schemeClr val="accent4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Indicates whether the individual has lung cancer or not</a:t>
              </a:r>
            </a:p>
            <a:p>
              <a:pPr lvl="0">
                <a:lnSpc>
                  <a:spcPct val="100000"/>
                </a:lnSpc>
                <a:defRPr b="1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AGE: </a:t>
              </a:r>
              <a:r>
                <a:rPr lang="en-US" dirty="0">
                  <a:solidFill>
                    <a:schemeClr val="accent4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Age of the individual</a:t>
              </a:r>
            </a:p>
            <a:p>
              <a:pPr lvl="0">
                <a:lnSpc>
                  <a:spcPct val="100000"/>
                </a:lnSpc>
                <a:defRPr b="1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SMOKING, ALCOHOL_CONSUMING, CHRONIC_DISEASE: </a:t>
              </a:r>
              <a:r>
                <a:rPr lang="en-US" dirty="0">
                  <a:solidFill>
                    <a:schemeClr val="accent4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Lifestyle factors</a:t>
              </a:r>
            </a:p>
            <a:p>
              <a:pPr lvl="0">
                <a:lnSpc>
                  <a:spcPct val="100000"/>
                </a:lnSpc>
                <a:defRPr b="1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COUGHING, CHEST_PAIN, WHEEZING, SHORTNESS_OF_BREATH: </a:t>
              </a:r>
              <a:r>
                <a:rPr lang="en-US" dirty="0">
                  <a:solidFill>
                    <a:schemeClr val="accent4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Symptom indicators</a:t>
              </a:r>
            </a:p>
            <a:p>
              <a:pPr lvl="0">
                <a:lnSpc>
                  <a:spcPct val="100000"/>
                </a:lnSpc>
                <a:defRPr b="1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PEER_PRESSURE, YELLOW_FINGERS: </a:t>
              </a:r>
              <a:r>
                <a:rPr lang="en-US" dirty="0">
                  <a:solidFill>
                    <a:schemeClr val="accent4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Additional behavior markers</a:t>
              </a:r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1707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DD68FD-AD6B-F64F-CA6E-99C27C661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41" y="1552223"/>
            <a:ext cx="5415366" cy="3838740"/>
          </a:xfrm>
          <a:prstGeom prst="rect">
            <a:avLst/>
          </a:prstGeom>
        </p:spPr>
      </p:pic>
      <p:pic>
        <p:nvPicPr>
          <p:cNvPr id="8" name="Picture 7" descr="A table of medical records&#10;&#10;AI-generated content may be incorrect.">
            <a:extLst>
              <a:ext uri="{FF2B5EF4-FFF2-40B4-BE49-F238E27FC236}">
                <a16:creationId xmlns:a16="http://schemas.microsoft.com/office/drawing/2014/main" id="{4352F048-B215-A1BE-DDA3-80DDDFDBE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9608" y="1552223"/>
            <a:ext cx="6199051" cy="375355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616590D-7840-2698-F8F7-54AC10F2D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99536"/>
            <a:ext cx="11155680" cy="5871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b="1" kern="12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About Dataset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68B58C8D-E01A-B1F6-3D4E-71C65EFE51E8}"/>
              </a:ext>
            </a:extLst>
          </p:cNvPr>
          <p:cNvSpPr/>
          <p:nvPr/>
        </p:nvSpPr>
        <p:spPr>
          <a:xfrm>
            <a:off x="178993" y="2615281"/>
            <a:ext cx="228695" cy="2545492"/>
          </a:xfrm>
          <a:prstGeom prst="leftBrac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98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4952A-6783-D81A-605F-92B05C10F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E1165F3-70B4-CB6D-F021-794A7E39C612}"/>
              </a:ext>
            </a:extLst>
          </p:cNvPr>
          <p:cNvSpPr txBox="1"/>
          <p:nvPr/>
        </p:nvSpPr>
        <p:spPr>
          <a:xfrm>
            <a:off x="2228414" y="5912133"/>
            <a:ext cx="7735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I cleaned the dataset using R programing by replacing “2” with “YES” and “1” with “NO” to make the dataset more convenient for analysis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DD40E43-9990-46FE-F395-E748566EF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99536"/>
            <a:ext cx="11155680" cy="5871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b="1" kern="12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Data Cleaning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1D3370-DA4B-399F-BFE6-6AA237419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819" y="1411957"/>
            <a:ext cx="7117914" cy="37782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978AD3-2000-8AA8-A525-8DF011984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831" y="1656655"/>
            <a:ext cx="4903988" cy="3288832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4025003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14E1B-4BFC-3B7C-BF2C-54A40B3A4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390351"/>
            <a:ext cx="11470164" cy="407729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The project answered the questions below:</a:t>
            </a:r>
          </a:p>
          <a:p>
            <a:pPr marL="0" indent="0">
              <a:buNone/>
            </a:pPr>
            <a:r>
              <a:rPr lang="en-US" sz="2400" dirty="0"/>
              <a:t>	1. What is the overall probability of lung cancer in the surveyed population?</a:t>
            </a:r>
          </a:p>
          <a:p>
            <a:pPr marL="0" indent="0">
              <a:buNone/>
            </a:pPr>
            <a:r>
              <a:rPr lang="en-US" sz="2400" dirty="0"/>
              <a:t>	2. How does the probability of lung cancer vary across different age groups?</a:t>
            </a:r>
          </a:p>
          <a:p>
            <a:pPr marL="0" indent="0">
              <a:buNone/>
            </a:pPr>
            <a:r>
              <a:rPr lang="en-US" sz="2400" dirty="0"/>
              <a:t>	3. What is the probability of a person being a smoker given that they have lung 	cancer?</a:t>
            </a:r>
          </a:p>
          <a:p>
            <a:pPr marL="0" indent="0">
              <a:buNone/>
            </a:pPr>
            <a:r>
              <a:rPr lang="en-US" sz="2400" dirty="0"/>
              <a:t>	4. Can we estimate the average age of lung cancer diagnosis using a random 	sample from the dataset?</a:t>
            </a:r>
          </a:p>
          <a:p>
            <a:pPr marL="0" indent="0">
              <a:buNone/>
            </a:pPr>
            <a:r>
              <a:rPr lang="en-US" sz="2400" dirty="0"/>
              <a:t>	5. How does the uncertainty in risk factors affect the probability of developing 	lung cancer?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AD50A58-6ED1-5C62-741A-089DEB40B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99536"/>
            <a:ext cx="11155680" cy="5871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b="1" kern="12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Research Questions</a:t>
            </a:r>
          </a:p>
        </p:txBody>
      </p:sp>
    </p:spTree>
    <p:extLst>
      <p:ext uri="{BB962C8B-B14F-4D97-AF65-F5344CB8AC3E}">
        <p14:creationId xmlns:p14="http://schemas.microsoft.com/office/powerpoint/2010/main" val="3286533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12285DA-C9F1-FBE0-2758-1B8A0ED78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99536"/>
            <a:ext cx="11155680" cy="58715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b="1" kern="12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What is the overall probability of lung cancer in the surveyed population?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D5F489E-A881-D44A-8757-17D9EFD9C213}"/>
              </a:ext>
            </a:extLst>
          </p:cNvPr>
          <p:cNvGrpSpPr/>
          <p:nvPr/>
        </p:nvGrpSpPr>
        <p:grpSpPr>
          <a:xfrm>
            <a:off x="3998913" y="4309227"/>
            <a:ext cx="4471139" cy="1317139"/>
            <a:chOff x="622478" y="3410892"/>
            <a:chExt cx="4471139" cy="131713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CB39362-BE90-9BA5-7D80-D9632382A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5404" r="22384" b="9462"/>
            <a:stretch/>
          </p:blipFill>
          <p:spPr>
            <a:xfrm>
              <a:off x="770738" y="3582646"/>
              <a:ext cx="4174621" cy="114538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F938F45-B707-AF51-ED66-6399ADD6F3DE}"/>
                </a:ext>
              </a:extLst>
            </p:cNvPr>
            <p:cNvSpPr txBox="1"/>
            <p:nvPr/>
          </p:nvSpPr>
          <p:spPr>
            <a:xfrm>
              <a:off x="622478" y="3410892"/>
              <a:ext cx="447113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Result: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D8C4EB2-93D3-DE88-8F77-0C57E0842BB0}"/>
              </a:ext>
            </a:extLst>
          </p:cNvPr>
          <p:cNvSpPr/>
          <p:nvPr/>
        </p:nvSpPr>
        <p:spPr>
          <a:xfrm>
            <a:off x="0" y="6297769"/>
            <a:ext cx="12192000" cy="56023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Question 1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842FD73-223C-4A43-500D-633E0054005F}"/>
              </a:ext>
            </a:extLst>
          </p:cNvPr>
          <p:cNvGrpSpPr/>
          <p:nvPr/>
        </p:nvGrpSpPr>
        <p:grpSpPr>
          <a:xfrm>
            <a:off x="1243475" y="1884552"/>
            <a:ext cx="9988381" cy="2014713"/>
            <a:chOff x="622478" y="2046479"/>
            <a:chExt cx="5566892" cy="118365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8E91AEF-AD77-6D5F-B068-3BE3CAFD5E82}"/>
                </a:ext>
              </a:extLst>
            </p:cNvPr>
            <p:cNvSpPr/>
            <p:nvPr/>
          </p:nvSpPr>
          <p:spPr>
            <a:xfrm>
              <a:off x="622478" y="2331462"/>
              <a:ext cx="5566892" cy="89867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EFB0760-A6A7-9953-17CE-11C51CC46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836"/>
            <a:stretch/>
          </p:blipFill>
          <p:spPr>
            <a:xfrm>
              <a:off x="828540" y="2446589"/>
              <a:ext cx="5151221" cy="71865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4CD9EF0-FD16-0177-B880-7F2DC1DFCFAB}"/>
                </a:ext>
              </a:extLst>
            </p:cNvPr>
            <p:cNvSpPr txBox="1"/>
            <p:nvPr/>
          </p:nvSpPr>
          <p:spPr>
            <a:xfrm>
              <a:off x="2987360" y="2046479"/>
              <a:ext cx="837127" cy="2350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Code: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3113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038DBC-BF25-6751-D39D-A65DD9B60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99536"/>
            <a:ext cx="11155680" cy="58715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b="1" kern="12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How does the probability of lung cancer vary across different age groups?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5FBF6D-413E-AE53-3A34-53B54D268C3C}"/>
              </a:ext>
            </a:extLst>
          </p:cNvPr>
          <p:cNvSpPr txBox="1"/>
          <p:nvPr/>
        </p:nvSpPr>
        <p:spPr>
          <a:xfrm>
            <a:off x="247704" y="1703327"/>
            <a:ext cx="6423553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Code: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# Create age groups</a:t>
            </a:r>
          </a:p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data_cleaned$AGE_GROUP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&lt;- cut(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data_cleaned$AGE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breaks = c(0, 50, 60, 70, Inf),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labels = c("&lt;50", "50-60", "61-70", "71+"),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right = FALSE)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View(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data_cleaned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## Calculate average (probability) of lung cancer in each age group</a:t>
            </a:r>
          </a:p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age_group_prob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&lt;-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data_cleaned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%&gt;%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group_by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(AGE_GROUP) %&gt;%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summarise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(Probability = sum(LUNG_CANCER == "YES") / n())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View(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age_group_prob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56E8BD-B4D9-903B-048C-D0FF907D6097}"/>
              </a:ext>
            </a:extLst>
          </p:cNvPr>
          <p:cNvSpPr txBox="1"/>
          <p:nvPr/>
        </p:nvSpPr>
        <p:spPr>
          <a:xfrm>
            <a:off x="7083381" y="1698233"/>
            <a:ext cx="9401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45EF43-53F4-CC2C-41EB-43CD121ED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381" y="2218954"/>
            <a:ext cx="4701776" cy="2237135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6E05C2F-D040-3F38-987E-17DDD6DCD244}"/>
              </a:ext>
            </a:extLst>
          </p:cNvPr>
          <p:cNvSpPr/>
          <p:nvPr/>
        </p:nvSpPr>
        <p:spPr>
          <a:xfrm>
            <a:off x="0" y="6297769"/>
            <a:ext cx="12192000" cy="56023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Question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37D660-763E-7BBB-186F-4433519836AB}"/>
              </a:ext>
            </a:extLst>
          </p:cNvPr>
          <p:cNvSpPr/>
          <p:nvPr/>
        </p:nvSpPr>
        <p:spPr>
          <a:xfrm>
            <a:off x="193183" y="1698233"/>
            <a:ext cx="6490952" cy="401998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120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E369F-D75D-DD9B-3C83-1991AA620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EC848A3-3AC4-4429-8908-A1EE8E570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99536"/>
            <a:ext cx="11155680" cy="58715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b="1" kern="12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How does the probability of lung cancer vary across different age groups?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80743D-49FB-AA7C-E094-0CA74D939B63}"/>
              </a:ext>
            </a:extLst>
          </p:cNvPr>
          <p:cNvSpPr txBox="1"/>
          <p:nvPr/>
        </p:nvSpPr>
        <p:spPr>
          <a:xfrm>
            <a:off x="304800" y="1481646"/>
            <a:ext cx="9401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Code: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F21959-8B93-4EDB-895E-0E5FCB1CC358}"/>
              </a:ext>
            </a:extLst>
          </p:cNvPr>
          <p:cNvSpPr txBox="1"/>
          <p:nvPr/>
        </p:nvSpPr>
        <p:spPr>
          <a:xfrm>
            <a:off x="6179829" y="1481646"/>
            <a:ext cx="9401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E805AB-586C-1CDF-21C6-BF5BD898E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082800"/>
            <a:ext cx="5791200" cy="2692400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98C877-2A18-2101-71A7-BF25AA653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829" y="2082800"/>
            <a:ext cx="5707371" cy="35283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3273AF7-7064-A1E9-E888-F2B17012D8D2}"/>
              </a:ext>
            </a:extLst>
          </p:cNvPr>
          <p:cNvSpPr/>
          <p:nvPr/>
        </p:nvSpPr>
        <p:spPr>
          <a:xfrm>
            <a:off x="0" y="6297769"/>
            <a:ext cx="12192000" cy="56023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Question 2</a:t>
            </a:r>
          </a:p>
        </p:txBody>
      </p:sp>
    </p:spTree>
    <p:extLst>
      <p:ext uri="{BB962C8B-B14F-4D97-AF65-F5344CB8AC3E}">
        <p14:creationId xmlns:p14="http://schemas.microsoft.com/office/powerpoint/2010/main" val="1082085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5C7D5-6E14-043C-294C-BBBBB2401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759E76E-D865-4258-808D-035EF94D7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99536"/>
            <a:ext cx="11155680" cy="58715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b="1" kern="12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Among all people with lung cancer, how many are from each age group?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0D681B9-093E-26CD-7260-562496334D60}"/>
              </a:ext>
            </a:extLst>
          </p:cNvPr>
          <p:cNvGrpSpPr/>
          <p:nvPr/>
        </p:nvGrpSpPr>
        <p:grpSpPr>
          <a:xfrm>
            <a:off x="518160" y="2243103"/>
            <a:ext cx="5357465" cy="2371794"/>
            <a:chOff x="193183" y="1339403"/>
            <a:chExt cx="4945487" cy="218940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B5BADED-2BD3-BA98-3622-68610D27939B}"/>
                </a:ext>
              </a:extLst>
            </p:cNvPr>
            <p:cNvSpPr txBox="1"/>
            <p:nvPr/>
          </p:nvSpPr>
          <p:spPr>
            <a:xfrm>
              <a:off x="304800" y="1481646"/>
              <a:ext cx="94015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Code: 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A6FB6D1-8C4A-36F1-10DB-A40214BF4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953"/>
            <a:stretch/>
          </p:blipFill>
          <p:spPr>
            <a:xfrm>
              <a:off x="304800" y="1914391"/>
              <a:ext cx="4742531" cy="1514609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66FD6BA-F51B-4429-A19D-F4DA5EC4FDB4}"/>
                </a:ext>
              </a:extLst>
            </p:cNvPr>
            <p:cNvSpPr/>
            <p:nvPr/>
          </p:nvSpPr>
          <p:spPr>
            <a:xfrm>
              <a:off x="193183" y="1339403"/>
              <a:ext cx="4945487" cy="21894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C9BD2C9-27B2-E4B8-88C9-F3EED317B580}"/>
              </a:ext>
            </a:extLst>
          </p:cNvPr>
          <p:cNvGrpSpPr/>
          <p:nvPr/>
        </p:nvGrpSpPr>
        <p:grpSpPr>
          <a:xfrm>
            <a:off x="6267823" y="2120973"/>
            <a:ext cx="5284174" cy="2616054"/>
            <a:chOff x="6267823" y="1800096"/>
            <a:chExt cx="5284174" cy="261605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F74A530-7A16-9F01-7BF3-ACD6650DDBC8}"/>
                </a:ext>
              </a:extLst>
            </p:cNvPr>
            <p:cNvSpPr txBox="1"/>
            <p:nvPr/>
          </p:nvSpPr>
          <p:spPr>
            <a:xfrm>
              <a:off x="6267823" y="1800096"/>
              <a:ext cx="115604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Result: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47525EB-154F-1877-560B-B01A32D8E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67823" y="2200206"/>
              <a:ext cx="5284174" cy="2215944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A3A63C1-2A8B-B7B6-C8E7-E6CB676239A8}"/>
              </a:ext>
            </a:extLst>
          </p:cNvPr>
          <p:cNvSpPr/>
          <p:nvPr/>
        </p:nvSpPr>
        <p:spPr>
          <a:xfrm>
            <a:off x="0" y="6297769"/>
            <a:ext cx="12192000" cy="56023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Follow-up Question 2</a:t>
            </a:r>
          </a:p>
        </p:txBody>
      </p:sp>
    </p:spTree>
    <p:extLst>
      <p:ext uri="{BB962C8B-B14F-4D97-AF65-F5344CB8AC3E}">
        <p14:creationId xmlns:p14="http://schemas.microsoft.com/office/powerpoint/2010/main" val="4090965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59AA15-21FA-1FCA-BCE2-785E46CBE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99536"/>
            <a:ext cx="11155680" cy="58715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b="1" kern="12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What is the probability of a person being a smoker given that they have lung cancer?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699CB6-4B1E-E83D-4C58-7D37E68E8A6F}"/>
              </a:ext>
            </a:extLst>
          </p:cNvPr>
          <p:cNvSpPr/>
          <p:nvPr/>
        </p:nvSpPr>
        <p:spPr>
          <a:xfrm>
            <a:off x="0" y="6297769"/>
            <a:ext cx="12192000" cy="56023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Question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222F50-77A9-20BF-C422-7E35A432A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68" y="2370402"/>
            <a:ext cx="5803900" cy="279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5C3EE6-5C6F-6A1C-3F57-1E3DD45F486A}"/>
              </a:ext>
            </a:extLst>
          </p:cNvPr>
          <p:cNvSpPr txBox="1"/>
          <p:nvPr/>
        </p:nvSpPr>
        <p:spPr>
          <a:xfrm>
            <a:off x="700232" y="1774020"/>
            <a:ext cx="9401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Code: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B2BA95-D2F7-74AC-5661-789C1C0ADD6F}"/>
              </a:ext>
            </a:extLst>
          </p:cNvPr>
          <p:cNvSpPr/>
          <p:nvPr/>
        </p:nvSpPr>
        <p:spPr>
          <a:xfrm>
            <a:off x="700232" y="2284966"/>
            <a:ext cx="5811405" cy="2964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6DE373-3ED5-5EF3-E5F5-80172B023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4814" y="3137309"/>
            <a:ext cx="3934866" cy="12601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F70AB6C-7B9E-DD8E-BC08-C77589D74604}"/>
              </a:ext>
            </a:extLst>
          </p:cNvPr>
          <p:cNvSpPr txBox="1"/>
          <p:nvPr/>
        </p:nvSpPr>
        <p:spPr>
          <a:xfrm>
            <a:off x="6994814" y="2737199"/>
            <a:ext cx="9401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Result:</a:t>
            </a:r>
          </a:p>
        </p:txBody>
      </p:sp>
    </p:spTree>
    <p:extLst>
      <p:ext uri="{BB962C8B-B14F-4D97-AF65-F5344CB8AC3E}">
        <p14:creationId xmlns:p14="http://schemas.microsoft.com/office/powerpoint/2010/main" val="3483680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1DE5D88-5FF1-9D12-8D3B-49E86088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99536"/>
            <a:ext cx="11155680" cy="58715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2800" b="1" kern="12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Can we estimate the average age of lung cancer diagnosis using a random sample from the dataset?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AC7903-ACBE-45CC-725B-BB0805485911}"/>
              </a:ext>
            </a:extLst>
          </p:cNvPr>
          <p:cNvSpPr/>
          <p:nvPr/>
        </p:nvSpPr>
        <p:spPr>
          <a:xfrm>
            <a:off x="0" y="6297769"/>
            <a:ext cx="12192000" cy="56023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Question 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B46228-CA75-826F-32FE-BDB3BB6E1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5835" y="2494931"/>
            <a:ext cx="6310029" cy="26105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6605A7-15CF-0E0D-F3B7-B5FB1D2274F3}"/>
              </a:ext>
            </a:extLst>
          </p:cNvPr>
          <p:cNvSpPr txBox="1"/>
          <p:nvPr/>
        </p:nvSpPr>
        <p:spPr>
          <a:xfrm>
            <a:off x="745835" y="1969061"/>
            <a:ext cx="9401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Code: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DDAC7F-CA49-2C4F-4584-56B3E9C347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6993" y="3429000"/>
            <a:ext cx="4730301" cy="8306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7234D4-63E0-E4E0-6829-F19CF8F08C9B}"/>
              </a:ext>
            </a:extLst>
          </p:cNvPr>
          <p:cNvSpPr txBox="1"/>
          <p:nvPr/>
        </p:nvSpPr>
        <p:spPr>
          <a:xfrm>
            <a:off x="7266993" y="3028890"/>
            <a:ext cx="9401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Result:</a:t>
            </a:r>
          </a:p>
        </p:txBody>
      </p:sp>
    </p:spTree>
    <p:extLst>
      <p:ext uri="{BB962C8B-B14F-4D97-AF65-F5344CB8AC3E}">
        <p14:creationId xmlns:p14="http://schemas.microsoft.com/office/powerpoint/2010/main" val="1918609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F36D9-126B-9741-5DC9-919C89DC7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53B3469-9B21-A01D-B56C-A00DEF17A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99536"/>
            <a:ext cx="11155680" cy="58715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3200" b="1" kern="12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How does the uncertainty in risk factors affect the probability of developing lung cancer?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1B5445-F31B-C11A-2CFC-DD9D4280C352}"/>
              </a:ext>
            </a:extLst>
          </p:cNvPr>
          <p:cNvSpPr/>
          <p:nvPr/>
        </p:nvSpPr>
        <p:spPr>
          <a:xfrm>
            <a:off x="0" y="6297769"/>
            <a:ext cx="12192000" cy="56023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Question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CF5E6C-8014-56E7-6613-CB31C946B785}"/>
              </a:ext>
            </a:extLst>
          </p:cNvPr>
          <p:cNvSpPr txBox="1"/>
          <p:nvPr/>
        </p:nvSpPr>
        <p:spPr>
          <a:xfrm>
            <a:off x="1025237" y="1485820"/>
            <a:ext cx="9401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Code: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AD195-B5D8-04B6-6E8F-57B63BDD82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592" r="18772"/>
          <a:stretch/>
        </p:blipFill>
        <p:spPr>
          <a:xfrm>
            <a:off x="6606862" y="1454319"/>
            <a:ext cx="4559901" cy="48137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CD8FA3-E0B1-B4EF-7948-89A6FB065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236" y="1887017"/>
            <a:ext cx="4461163" cy="42999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781673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E5342-FA80-2120-7B20-B9606740D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56BAF26-514E-493E-B996-FB76D7EF0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99536"/>
            <a:ext cx="11155680" cy="58715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3200" b="1" kern="12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How does the uncertainty in risk factors affect the probability of developing lung cancer?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CF8B59-D2DD-59AD-39D6-3B7C33792DF6}"/>
              </a:ext>
            </a:extLst>
          </p:cNvPr>
          <p:cNvSpPr/>
          <p:nvPr/>
        </p:nvSpPr>
        <p:spPr>
          <a:xfrm>
            <a:off x="0" y="6297769"/>
            <a:ext cx="12192000" cy="56023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Question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B5E7F9-9C2A-AAC6-85C1-2606BE2447D7}"/>
              </a:ext>
            </a:extLst>
          </p:cNvPr>
          <p:cNvSpPr txBox="1"/>
          <p:nvPr/>
        </p:nvSpPr>
        <p:spPr>
          <a:xfrm>
            <a:off x="518160" y="1485820"/>
            <a:ext cx="9401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Code: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AEDB6-5C37-F814-1D09-26DF14AF1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" y="2012982"/>
            <a:ext cx="6033081" cy="15565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267C10-D76A-6709-C540-1E0BE9A2A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015" y="1960493"/>
            <a:ext cx="5356985" cy="43124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DACAEB4-7969-0B98-4918-396907838FAF}"/>
              </a:ext>
            </a:extLst>
          </p:cNvPr>
          <p:cNvSpPr txBox="1"/>
          <p:nvPr/>
        </p:nvSpPr>
        <p:spPr>
          <a:xfrm>
            <a:off x="6835015" y="1547956"/>
            <a:ext cx="9401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Result:</a:t>
            </a:r>
          </a:p>
        </p:txBody>
      </p:sp>
    </p:spTree>
    <p:extLst>
      <p:ext uri="{BB962C8B-B14F-4D97-AF65-F5344CB8AC3E}">
        <p14:creationId xmlns:p14="http://schemas.microsoft.com/office/powerpoint/2010/main" val="817892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3928811-E051-93ED-15B3-F6DBF7750D46}"/>
              </a:ext>
            </a:extLst>
          </p:cNvPr>
          <p:cNvSpPr txBox="1"/>
          <p:nvPr/>
        </p:nvSpPr>
        <p:spPr>
          <a:xfrm>
            <a:off x="1406236" y="1943978"/>
            <a:ext cx="9379527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b="1" dirty="0">
                <a:solidFill>
                  <a:srgbClr val="0070C0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Thank You!</a:t>
            </a:r>
          </a:p>
          <a:p>
            <a:pPr algn="ctr"/>
            <a:r>
              <a:rPr lang="en-US" sz="7200" b="1" dirty="0">
                <a:solidFill>
                  <a:schemeClr val="accent6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Questions???</a:t>
            </a:r>
          </a:p>
        </p:txBody>
      </p:sp>
    </p:spTree>
    <p:extLst>
      <p:ext uri="{BB962C8B-B14F-4D97-AF65-F5344CB8AC3E}">
        <p14:creationId xmlns:p14="http://schemas.microsoft.com/office/powerpoint/2010/main" val="107415089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353</TotalTime>
  <Words>1022</Words>
  <Application>Microsoft Macintosh PowerPoint</Application>
  <PresentationFormat>Widescreen</PresentationFormat>
  <Paragraphs>103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Baloo Bhaijaan</vt:lpstr>
      <vt:lpstr>Calibri</vt:lpstr>
      <vt:lpstr>Neue Haas Grotesk Text Pro</vt:lpstr>
      <vt:lpstr>VanillaVTI</vt:lpstr>
      <vt:lpstr>PowerPoint Presentation</vt:lpstr>
      <vt:lpstr>About Dataset</vt:lpstr>
      <vt:lpstr>About Dataset</vt:lpstr>
      <vt:lpstr>Data Cleaning</vt:lpstr>
      <vt:lpstr>Research Questions</vt:lpstr>
      <vt:lpstr>What is the overall probability of lung cancer in the surveyed population?</vt:lpstr>
      <vt:lpstr>How does the probability of lung cancer vary across different age groups?</vt:lpstr>
      <vt:lpstr>How does the probability of lung cancer vary across different age groups?</vt:lpstr>
      <vt:lpstr>Among all people with lung cancer, how many are from each age group?</vt:lpstr>
      <vt:lpstr>What is the probability of a person being a smoker given that they have lung cancer?</vt:lpstr>
      <vt:lpstr>Can we estimate the average age of lung cancer diagnosis using a random sample from the dataset?</vt:lpstr>
      <vt:lpstr>How does the uncertainty in risk factors affect the probability of developing lung cancer?</vt:lpstr>
      <vt:lpstr>How does the uncertainty in risk factors affect the probability of developing lung cancer?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Turja, Tanmoy Saha (Student)</dc:creator>
  <cp:lastModifiedBy>Turja, Tanmoy Saha (Student)</cp:lastModifiedBy>
  <cp:revision>9</cp:revision>
  <dcterms:created xsi:type="dcterms:W3CDTF">2025-04-30T05:10:30Z</dcterms:created>
  <dcterms:modified xsi:type="dcterms:W3CDTF">2025-05-02T02:57:42Z</dcterms:modified>
</cp:coreProperties>
</file>